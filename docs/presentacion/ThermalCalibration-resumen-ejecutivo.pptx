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ejecutiva del sistema: contexto y riesgos, propósito, flujo seguido, requisitos, arquitectura, datos, operación y estado del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resumen sigue el orden contexto, propósito, flujo, requisitos, arquitectura, datos y operación, y cierra con el estado del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riesgos principales son perder datos durante sesiones largas y no poder probar sin hardware. Ambos se atacan en la arquitectura: la captura corre en el servidor y hay un adquisidor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PC marca el tiempo, guarda la trama original de cada lectura y genera el Excel desde la base de datos. Los objetivos medibles están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fase 1 entrega datos crudos confiables. El análisis estadístico y los perfiles de eficacia por modelo de equipo se apoyan en estos datos en fases posteriores.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entidad sigue la misma definición de terminado: contrato, dominio, aplicación, infraestructura, API, pruebas, verificación y documentación, y recién entonces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están escritos como historias con escenarios Gherkin; cada prueba automatizada indica la historia y el escenario que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captura serial corre en segundo plano dentro de la misma API. El adquisidor simulado implementa el mismo protocolo, lo que permite probar todo sin sensores.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el código y el contrato están en inglés; la documentación y los mensajes al usuario, en español.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primero: el script SQL es la fuente de verdad. Las lecturas, alertas y huecos son inmutables: son evidencia. Los datos de ejemplo para desarrollo están aparte, en 02-dev-data.sql.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agregados solo hay referencias por identificador. MeasurementSession no crea alertas directamente: publica eventos de dominio que la aplicación convierte en alertas en la misma transacción.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operación está pensada para una PC de laboratorio conectada al adquisidor. Un reinicio del servicio se trata como una reconexión; si dura más de 30 minutos, la sesión falla y queda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Siguiente: sprint 3 (adquisidor, protocolo y simulador), que habilita probar la captura de punta a punta sin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monitoreo térmico para la calibración de equipos de refrigeración y de laboratorio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Fase 1: sesión de medición, adquisición serial y exportación a Excel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septiembre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resumen ejecutivo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280160" y="141732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41732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 y riesgos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41732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995160" y="141732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41732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resolver el aplicativo y objetivos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280160" y="260604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60604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seguido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sesión de medición y del desarrollo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200" y="260604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6060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995160" y="260604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60604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por módulo y no funcionales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947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1280160" y="379476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37947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despliegue y tecnología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72200" y="379476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79476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995160" y="379476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379476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y resumen de entidades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57200" y="4983480"/>
            <a:ext cx="822960" cy="9601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834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1280160" y="498348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63040" y="498348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operación diaria y mantenimiento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72200" y="4983480"/>
            <a:ext cx="822960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49834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6995160" y="4983480"/>
            <a:ext cx="4663440" cy="96012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4983480"/>
            <a:ext cx="4389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y próximos pasos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problema y riesgos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construye el sistema y qué puede salir mal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actual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4206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mide cada equipo con termopares durante una sesión (normalmente 1 h; hasta varios días si el cliente lo pide).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anotadas o copiadas a mano: no se puede demostrar qué entregó el sensor.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equipo, técnico, adquisidor y termopares de cada sesión.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aplicados de forma inconsistente; algunos sin definir.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termopares T y K sin constancia; Excel armado a mano.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cómo se mitigan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737360"/>
          <a:ext cx="67482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7307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muestras por cortes de comunicación o reinicios de la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en el servidor; reinicio = reconexión; huecos registrados; falla a los 30 min (RN-15)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Adquisidor aún en diseño, sin sensores al inicio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Adquisidor simulado con el mismo protocolo y 22 escenarios de 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alterada o cuestionada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Lecturas, alertas y huecos inmutables; trama serial original en cada lectura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de la norma no confirmados por el laboratorio (P-03)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marcados como sugeridos hasta que el administrador los confirma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 práctica en la medición (mezcla T/K, pocos puntos)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Advertencia con confirmación del técnico, registrada en la sesión y en el Excel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suspendida o reloj desincronizado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Suspensión deshabilitada, NTP y aviso al iniciar (supuestos S-04, S-05)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 con licencia comercial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CQRS propio (sin MediatR) y FluentAssertions 7.2.2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 qué debe resolver el aplicativo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manual a una captura automática, trazable y auditable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resolver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empresas cliente (RUC), sus equipos y los tipos de equipo con su criterio de límite.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por puerto serial hasta 27 termopares T/K, a intervalo configurable, sin intervención.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cada lectura y detectar fallas, pérdida de sensores y cortes de comunicación.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solo lo crítico y registrar todo lo demás como evidencia.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cada sesión a un Excel estandarizado y mantener el historial.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325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esperados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auditable: cada valor con su hora y la trama que lo originó.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consistentes: la sesión conserva el límite vigente al iniciar.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errores: el reporte se genera desde la base, sin transcribir.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pruebas sin esperar el hardware.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perfiles de eficacia por marca y modelo de equipo.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2057400" cy="960120"/>
          </a:xfrm>
          <a:prstGeom prst="chevron">
            <a:avLst/>
          </a:prstGeom>
          <a:solidFill>
            <a:srgbClr val="0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Termopares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o K, hasta 27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61488" y="4846320"/>
            <a:ext cx="2057400" cy="960120"/>
          </a:xfrm>
          <a:prstGeom prst="chevron">
            <a:avLst/>
          </a:prstGeom>
          <a:solidFill>
            <a:srgbClr val="0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Adquisidor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 Raspberry 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65776" y="4846320"/>
            <a:ext cx="2057400" cy="960120"/>
          </a:xfrm>
          <a:prstGeom prst="chevron">
            <a:avLst/>
          </a:prstGeom>
          <a:solidFill>
            <a:srgbClr val="1F6F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reglas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0064" y="4846320"/>
            <a:ext cx="2057400" cy="960120"/>
          </a:xfrm>
          <a:prstGeom prst="chevron">
            <a:avLst/>
          </a:prstGeom>
          <a:solidFill>
            <a:srgbClr val="0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4384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74352" y="4846320"/>
            <a:ext cx="2057400" cy="960120"/>
          </a:xfrm>
          <a:prstGeom prst="chevron">
            <a:avLst/>
          </a:prstGeom>
          <a:solidFill>
            <a:srgbClr val="0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48672" y="48463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.xlsx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equipos de uso individual, pequeña y mediana escala, hospitales y clínicas, hasta 2000 L. Sin equipos industriales.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fase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objetivo tiene un indicador de éxito medible (documento de visión §2)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· Captura automática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792224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lectura por canal en cada intervalo. ≥ 99 % de las muestras programadas almacenadas.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10128" y="1371600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371600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· Datos íntegros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1792224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lectura guarda hora, valor, estado del sensor y la trama serial original.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63056" y="1371600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371600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· Límite por tipo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936" y="1792224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o banda congelados al iniciar: el 100 % de las lecturas fuera de límite genera alerta.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15984" y="1371600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1371600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98864" y="1444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· Anomalías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98864" y="1792224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T/K, fallas, pérdida de sensores, cortes y cambio de adquisidor quedan registrados.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721608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21608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· Excel estándar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142232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Resumen, Lecturas, Alertas y Comunicación, sin intervención manual.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10128" y="3721608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0128" y="3721608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3794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· Historial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93008" y="4142232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sesiones por empresa, equipo y rango de fechas.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63056" y="3721608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3056" y="3721608"/>
            <a:ext cx="73152" cy="214884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3794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 · Pruebas sin hardware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45936" y="4142232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Adquisidor simulado: los 22 escenarios de prueba dan exactamente el resultado esperado.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015984" y="3721608"/>
            <a:ext cx="2697480" cy="214884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15984" y="3721608"/>
            <a:ext cx="73152" cy="2148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8864" y="3794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criterio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98864" y="4142232"/>
            <a:ext cx="2423160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críticas interrumpen al técnico; las advertencias se registran.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fase 1: estadística e incertidumbre, certificados, inventario de sensores, monitoreo remoto y equipos de más de 2000 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seguido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 el sistema en una sesión y cómo se construye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una sesión de medición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Registrar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(RUC) y equipo: tipo, marca, modelo y serie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38528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89404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9404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Configurar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89404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4268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equipo, puerto COM, adquisidor y canales T/K con ubicación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70732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21608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Validar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21608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T/K, límite pendiente, puntos mínimos y descanso del kit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02936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53812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3812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Iniciar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53812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8676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muestra recibida es t = 0; se copia el límite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35140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986016" y="1737360"/>
            <a:ext cx="1481328" cy="4572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Capturar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86016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muestra por intervalo; evaluación y alertas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67344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18220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18220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Cerrar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618220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73084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completa, incompleta, fallida o cancelada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99548" y="1965960"/>
            <a:ext cx="150876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250424" y="1737360"/>
            <a:ext cx="1481328" cy="4572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50424" y="17373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Exportar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250424" y="2194560"/>
            <a:ext cx="1481328" cy="1143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05288" y="22128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4 hojas e historial por empresa y equipo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la captura: </a:t>
            </a:r>
            <a:pPr indent="0" marL="0">
              <a:buNone/>
            </a:pPr>
            <a:r>
              <a:rPr lang="en-US" sz="12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corta la comunicación, se registra el hueco y se reconecta; con otro adquisidor o 30 min sin datos suficientes la sesión falla. Solo las alertas críticas interrumpen al técnico.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seguido en el desarrollo (por entidad)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457200" y="4617720"/>
            <a:ext cx="1369314" cy="731520"/>
          </a:xfrm>
          <a:prstGeom prst="homePlat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72234" y="4617720"/>
            <a:ext cx="1369314" cy="731520"/>
          </a:xfrm>
          <a:prstGeom prst="homePlat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08810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OpenAPI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87268" y="4617720"/>
            <a:ext cx="1369314" cy="731520"/>
          </a:xfrm>
          <a:prstGeom prst="homePlat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23844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02302" y="4617720"/>
            <a:ext cx="1369314" cy="731520"/>
          </a:xfrm>
          <a:prstGeom prst="homePlat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8878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17336" y="4617720"/>
            <a:ext cx="1369314" cy="731520"/>
          </a:xfrm>
          <a:prstGeom prst="homePlat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53912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532370" y="4617720"/>
            <a:ext cx="1369314" cy="731520"/>
          </a:xfrm>
          <a:prstGeom prst="homePlat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68946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947404" y="4617720"/>
            <a:ext cx="1369314" cy="731520"/>
          </a:xfrm>
          <a:prstGeom prst="homePlat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83980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362438" y="4617720"/>
            <a:ext cx="1369314" cy="731520"/>
          </a:xfrm>
          <a:prstGeom prst="homePlat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99014" y="4617720"/>
            <a:ext cx="104013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docs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en Gherkin → contrato primero → capas de adentro hacia afuera → pruebas por escenario → auditoría automática del contrato contra la API. Los datos reales (DATA-1) retroalimentan la especificación (decisiones D-05 a D-07).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historias de usuario con 152 escenarios Gherkin como criterios de aceptación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por módulo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029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(historias)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Catálogos y 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 y equipos (HU-01); tipos de equipo, límites y parámetros (HU-02)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de medición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(HU-03); advertir mezcla T/K (HU-04), límite pendiente (HU-05) y pocos puntos (HU-17); duración y descanso (HU-16); cerrar (HU-10); historial (HU-12)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Adquisición serial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Iniciar al llegar datos y capturar (HU-06); lecturas inválidas (HU-07); comunicación y validación del adquisidor (HU-09)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límite (HU-08); pérdida de sensores con escalamiento y falla (HU-13); críticas y advertencias (HU-15)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 y simulación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de 4 hojas (HU-11); sesión simulada con el set de datos de prueba (HU-14)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0" y="1691640"/>
            <a:ext cx="3977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Integridad: ≥ 99 % de las muestras programadas almacenadas.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de varios días; se reanudan tras un reinicio del servicio.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Temporización exacta desde el inicio, sin deriva.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Auditoría: datos inmutables y trama original por lectura.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72 h en menos de 15 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modesto (≈ 50 000 lecturas en 7 días): SQL Server Express basta.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roles: Admin, Technician, Supervisor.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sin hardware (simulador y reloj inyectable).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CQRS + dominio enriquecido (ADR-001)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del backend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577840" cy="8686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373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Thermal.Api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REST, errores RFC 7807, ETag / If-Match, autorización por rol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5577840" cy="86868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61488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Thermal.Application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Comandos, consultas y handlers (CQRS propio, sin MediatR); puertos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5577840" cy="86868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85616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Thermal.Domain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y reglas del negocio, sin dependencias externas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809744"/>
            <a:ext cx="5577840" cy="86868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809744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Thermal.Infrastructure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10, repositorios, unidad de trabajo, puerto serial, Excel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5806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dependencias apuntan hacia el dominio. La base es primero: el esquema SQL es la fuente, sin migraciones de EF.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(fase 1)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92240" y="173736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83680" y="1755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del laboratorio (Windows)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24028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E8F1F8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· SignalR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75320" y="22402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8F1F8"/>
          </a:solidFill>
          <a:ln w="19050">
            <a:solidFill>
              <a:srgbClr val="0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22402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.NET 10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Windows (Kestrel)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287000" y="224028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E8F1F8"/>
          </a:solidFill>
          <a:ln w="19050">
            <a:solidFill>
              <a:srgbClr val="5AA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224028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448056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8F1F8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48056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Adquisidor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/ Raspberry Pi o simulado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2743200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0" y="2743200"/>
            <a:ext cx="22860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66860" y="3246120"/>
            <a:ext cx="0" cy="123444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281160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COM (USB-serial)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5486400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Desarrollo: Docker Compose (SQL Server 2 GB + API 256 MB).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Producción: todo en la PC del laboratorio; contrato OpenAPI primero.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.NET de soporte largo, sin dependencias de licencia comercial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223760"/>
                <a:gridCol w="194767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.NET 10 (LTS), C# 14, ASP.NET Core con controladores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Architecture, CQRS con interfaces propias, DDD táctico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2022, EF Core 10 (base primero), restricciones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3.0 (v1.3.0), Redocly lint, auditoría automática contra la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xUnit v3, FluentAssertions 7.2.2, NSubstitute, Testcontainers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Compose, zona America/Lima, JWT de desarrollo (roles)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System.IO.Ports, protocolo propio v1.0 (POLL / STREAM), simulador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SignalR: muestras, alertas críticas y estado en vivo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Sprints 4-5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.xlsx con librería OpenXML (p. ej. ClosedXML)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Cuentas propias o Windows / AD (por decidir)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9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(v13+) y FluentAssertions (v8+) pasaron a licencia comercial: se usan interfaces CQRS propias y FluentAssertions 7.2.2 (Apache 2.0).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esquema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2022 · 14 tablas, 3 vistas, 40 restricciones CHECK · docs/db/01-schema.sql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749040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5AA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y configuración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783080"/>
            <a:ext cx="1737360" cy="384048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EquipmentType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1783080"/>
            <a:ext cx="1737360" cy="384048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ThermocoupleType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276856"/>
            <a:ext cx="1737360" cy="384048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2768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AppSetting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77440" y="2276856"/>
            <a:ext cx="1737360" cy="384048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2768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749040" cy="1444752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9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usuarios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703320"/>
            <a:ext cx="1737360" cy="38404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03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77440" y="3703320"/>
            <a:ext cx="1737360" cy="38404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7033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197096"/>
            <a:ext cx="1737360" cy="38404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970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AppUser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0" y="1371600"/>
            <a:ext cx="3749040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399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90288" y="1783080"/>
            <a:ext cx="1737360" cy="38404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0288" y="17830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AcquisitionDevice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0560" y="2880360"/>
            <a:ext cx="3840480" cy="1938528"/>
          </a:xfrm>
          <a:prstGeom prst="rect">
            <a:avLst/>
          </a:prstGeom>
          <a:solidFill>
            <a:srgbClr val="FFFFFF"/>
          </a:solidFill>
          <a:ln w="15875">
            <a:solidFill>
              <a:srgbClr val="0F2A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medición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90288" y="3291840"/>
            <a:ext cx="1737360" cy="38404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291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MeasurementSession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291840"/>
            <a:ext cx="1737360" cy="38404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291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SessionChannel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90288" y="3785616"/>
            <a:ext cx="1737360" cy="38404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37856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0" y="3785616"/>
            <a:ext cx="1737360" cy="38404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8561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CommunicationGap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90288" y="4279392"/>
            <a:ext cx="1737360" cy="38404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0288" y="42793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480560" y="5303520"/>
            <a:ext cx="3749040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53309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90288" y="5715000"/>
            <a:ext cx="1737360" cy="38404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5715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SessionExport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331720" y="2816352"/>
            <a:ext cx="0" cy="475488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206240" y="3977640"/>
            <a:ext cx="274320" cy="0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00800" y="2322576"/>
            <a:ext cx="0" cy="557784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00800" y="4818888"/>
            <a:ext cx="0" cy="484632"/>
          </a:xfrm>
          <a:prstGeom prst="line">
            <a:avLst/>
          </a:prstGeom>
          <a:noFill/>
          <a:ln w="19050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859536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principales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95360" y="1737360"/>
            <a:ext cx="31546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1—N Equipment; EquipmentType 1—N Equipment.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1—N MeasurementSession (historial).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Sesión: 1 a 27 SessionChannel, cada uno con sus Reading.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Alert, CommunicationGap y SessionExport cuelgan de la sesión.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copia al iniciar el límite y la política de pérdida (RN-08).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9536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en la base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95360" y="480060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 peruano validado (CK_Company_TaxId).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única por empresa; nombre de tipo único.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RowVersion: concurrencia optimista (ETag).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resumen de entidades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del dominio y su estado de implementación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51760"/>
                <a:gridCol w="5925312"/>
                <a:gridCol w="548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representa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clave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equipo del catálogo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Range (mín./máx.) o Band (consigna ± tolerancia); 1 a 27 puntos; duración mínima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SystemSettings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Parámetros del sistema (AppSetting)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Intervalo, duraciones, descanso, umbral de pérdida y escalamiento (rangos D-08)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ThermocoupleType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de termopar T y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físico de medición; catálogo fijo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 válido, único y no editable; se desactiva, no se borra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bajo prueba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y modelo obligatorios; serie única por empresa; modelo inferido o confirmado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AcquisitionDevice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Adquisidor serial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por IDN, 1 a 27 canales, modos POLL / 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de medición (núcleo)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Canales, lecturas, límite copiado, pérdida de sensores, descanso y cierre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que requiere atención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 o advertencia; inmutable salvo el reconocimiento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SessionExport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 a Excel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Bitácora de cada .xlsx generado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y 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Admin, Technician, Supervisor (autenticación al final)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implementada (sprints 0 a 2)   ⏳ planificada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 y se mantiene el sistema en el laboratorio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639312" cy="4572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4475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opera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792224"/>
            <a:ext cx="3364992" cy="409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Administrador: usuarios, tipos de equipo y límites, parámetros del sistema, adquisidores.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Técnico: registra empresas y equipos, configura, inicia y cierra sesiones, exporta.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revisa sesiones, reconoce alertas críticas y exporta; no edita lecturas.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edita ni borra lecturas, alertas o huecos: son evidencia.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639312" cy="4572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1371600"/>
            <a:ext cx="73152" cy="457200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44475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una sesión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1792224"/>
            <a:ext cx="3364992" cy="409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corre en el servicio: cerrar el navegador no la detiene.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puerto COM por sesión; varias sesiones en puertos distintos.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las alertas críticas se notifican; las advertencias se registran.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del kit de medición entre sesiones (15 min, configurable).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sesiones simuladas quedan marcadas y nunca se mezclan con las reales.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101584" y="1371600"/>
            <a:ext cx="3639312" cy="457200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371600"/>
            <a:ext cx="73152" cy="4572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44475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mantenimiento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1792224"/>
            <a:ext cx="3364992" cy="4096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del laboratorio con Windows: API como servicio y SQL Server local o en la LAN.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sincronizado (NTP) y suspensión deshabilitada.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completo diario y del log de la base.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diaria de alertas críticas, semanal de sesiones fallidas y mensual de disco y respaldos.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en los manuales de despliegue, de usuario y de administrador (docs/delivery).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y próximos pasos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0 a 2 terminados · autenticación al final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C9D6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ThermalCalibration · Resumen ejecutivo · 26/09/2026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84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6974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correctas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325880"/>
            <a:ext cx="26974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88/88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19272" y="2057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del contrato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conformes con la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325880"/>
            <a:ext cx="26974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19/152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81344" y="2057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Gherkin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43416" y="1325880"/>
            <a:ext cx="2697480" cy="141732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3416" y="137160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043416" y="20574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2E8B57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60120" y="30175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equipo, configuración, empresas y equipos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06324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30175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Adquisidor, protocolo serial y simulador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363016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301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5844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Sesión: configurar e iniciar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26480" y="3630168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6301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9400" y="35844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lecturas y alertas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7200" y="419709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9709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1513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Comunicación, cierre y reanudación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26480" y="4197096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419709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29400" y="415137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exportación a Excel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57200" y="476402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6402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471830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extremo a extremo y datos reales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126480" y="476402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476402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29400" y="471830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eficacia por modelo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57200" y="53309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33095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0120" y="52852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usuarios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126480" y="53309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0" y="533095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29400" y="528523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documentación de entrega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real: primer registro de campo (DATA-1, cámara ambiental Memmert, 72 h, 12 termopares tipo T) usado para ajustar límites y puntos de medición.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ThermalCalibration · Resumen ejecutivo</dc:title>
  <dc:subject>PptxGenJS Presentation</dc:subject>
  <dc:creator>ThermalCalibration</dc:creator>
  <cp:lastModifiedBy>ThermalCalibration</cp:lastModifiedBy>
  <cp:revision>1</cp:revision>
  <dcterms:created xsi:type="dcterms:W3CDTF">2026-09-26T12:39:31Z</dcterms:created>
  <dcterms:modified xsi:type="dcterms:W3CDTF">2026-09-26T12:39:31Z</dcterms:modified>
</cp:coreProperties>
</file>